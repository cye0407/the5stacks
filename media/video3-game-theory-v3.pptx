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A0A0A0"/>
                </a:solidFill>
                <a:latin typeface="Segoe UI"/>
              </a:defRPr>
            </a:pPr>
            <a:r>
              <a:t>A BIT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 i="0">
                <a:solidFill>
                  <a:srgbClr val="FFFFFF"/>
                </a:solidFill>
                <a:latin typeface="Segoe UI"/>
              </a:defRPr>
            </a:pPr>
            <a:r>
              <a:t>GAME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486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r>
              <a:t>Why smart people make decisions</a:t>
            </a:r>
          </a:p>
          <a:p>
            <a:pPr algn="ctr">
              <a:spcAft>
                <a:spcPts val="8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r>
              <a:t>that hurt everyone. Including themselves.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498079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707070"/>
                </a:solidFill>
                <a:latin typeface="Segoe UI"/>
              </a:defRPr>
            </a:pPr>
            <a:r>
              <a:t>THE 5 STACKS  |  Video 3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WHAT IS GAME THEORY?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How people make decisions when the outcome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depends on what other people do.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You do it every day.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When you price a job, you think about what your competitor will charge.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When you invest in equipment, you think about whether your customer stays.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707070"/>
                </a:solidFill>
                <a:latin typeface="Segoe UI"/>
              </a:defRPr>
            </a:pPr>
            <a:r>
              <a:t>That's game theory. And it explains everything about sustainability right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WHY DOING THE RIGHT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C2626"/>
                </a:solidFill>
                <a:latin typeface="Segoe UI"/>
              </a:defRPr>
            </a:pPr>
            <a:r>
              <a:t>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COSTS YOU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100 SUPPLIERS. ONE BIG CUSTOMER.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If they all invest in better operations —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tracking energy, reducing waste, knowing their numbers —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the whole supply chain gets better. Costs go down. Everyone wins.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5029200"/>
            <a:ext cx="54864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But if YOU invest and your competitor doesn't?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They spent nothing. They undercut you on price.</a:t>
            </a:r>
          </a:p>
          <a:p>
            <a:pPr algn="ctr">
              <a:spcAft>
                <a:spcPts val="10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You lose the contract.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SO EVERYONE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C2626"/>
                </a:solidFill>
                <a:latin typeface="Segoe UI"/>
              </a:defRPr>
            </a:pPr>
            <a:r>
              <a:t>THE BARE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Race to the bottom.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THE BIG COMPANY'S FIX?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C2626"/>
                </a:solidFill>
                <a:latin typeface="Segoe UI"/>
              </a:defRPr>
            </a:pPr>
            <a:r>
              <a:t>SEND A QUESTIONNAIRE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Fill this out or we drop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400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>
                <a:solidFill>
                  <a:srgbClr val="707070"/>
                </a:solidFill>
                <a:latin typeface="Segoe UI"/>
              </a:defRPr>
            </a:pPr>
            <a:r>
              <a:t>But forcing someone to fill out a form</a:t>
            </a:r>
          </a:p>
          <a:p>
            <a:pPr algn="ctr">
              <a:spcAft>
                <a:spcPts val="600"/>
              </a:spcAft>
              <a:defRPr sz="2200">
                <a:solidFill>
                  <a:srgbClr val="707070"/>
                </a:solidFill>
                <a:latin typeface="Segoe UI"/>
              </a:defRPr>
            </a:pPr>
            <a:r>
              <a:t>isn't the same as making it worthwhile to improve.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5895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D97706"/>
                </a:solidFill>
                <a:latin typeface="Segoe UI"/>
              </a:defRPr>
            </a:pPr>
            <a:r>
              <a:t>The trap isn't solved. It's papered over.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WHO TAKES THE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WHO GETS THE REWARD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37160" cy="4572000"/>
          </a:xfrm>
          <a:prstGeom prst="rect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27C5C"/>
                </a:solidFill>
                <a:latin typeface="Segoe UI"/>
              </a:defRPr>
            </a:pPr>
            <a:r>
              <a:t>BIG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Writes in their annual report: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"We assessed 2,000 suppliers."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Worth millions in reputation.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Costs them almost nothing.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371600"/>
            <a:ext cx="137160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DC2626"/>
                </a:solidFill>
                <a:latin typeface="Segoe UI"/>
              </a:defRPr>
            </a:pPr>
            <a: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No help. No tools. No benefit.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Just a deadline.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And the risk that if you don't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do it well enough, you're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D97706"/>
                </a:solidFill>
                <a:latin typeface="Segoe UI"/>
              </a:defRPr>
            </a:pPr>
            <a:r>
              <a:t>The people who designed this system don't suffer when it fails.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THE RATING AGENCIES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560320"/>
            <a:ext cx="3200400" cy="1828800"/>
          </a:xfrm>
          <a:prstGeom prst="roundRect">
            <a:avLst/>
          </a:prstGeom>
          <a:noFill/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D97706"/>
                </a:solidFill>
                <a:latin typeface="Segoe UI"/>
              </a:defRPr>
            </a:pPr>
            <a:r>
              <a:t>YOUR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0A0A0"/>
                </a:solidFill>
                <a:latin typeface="Segoe UI"/>
              </a:defRPr>
            </a:pPr>
            <a:r>
              <a:t>Pays to rate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2286000"/>
            <a:ext cx="3200400" cy="2743200"/>
          </a:xfrm>
          <a:prstGeom prst="roundRect">
            <a:avLst/>
          </a:prstGeom>
          <a:noFill/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DC2626"/>
                </a:solidFill>
                <a:latin typeface="Segoe UI"/>
              </a:defRPr>
            </a:pPr>
            <a:r>
              <a:t>RATING 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3200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DC2626"/>
                </a:solidFill>
                <a:latin typeface="Segoe UI"/>
              </a:defRPr>
            </a:pPr>
            <a:r>
              <a:t>Gets paid by both sides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840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DC2626"/>
                </a:solidFill>
                <a:latin typeface="Segoe UI"/>
              </a:defRPr>
            </a:pPr>
            <a:r>
              <a:t>Bears zero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2560320"/>
            <a:ext cx="3200400" cy="1828800"/>
          </a:xfrm>
          <a:prstGeom prst="roundRect">
            <a:avLst/>
          </a:prstGeom>
          <a:noFill/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D97706"/>
                </a:solidFill>
                <a:latin typeface="Segoe UI"/>
              </a:defRPr>
            </a:pPr>
            <a:r>
              <a:t>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3474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A0A0A0"/>
                </a:solidFill>
                <a:latin typeface="Segoe UI"/>
              </a:defRPr>
            </a:pPr>
            <a:r>
              <a:t>Pay to see your score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54880" y="3200400"/>
            <a:ext cx="731520" cy="45720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ft Arrow 13"/>
          <p:cNvSpPr/>
          <p:nvPr/>
        </p:nvSpPr>
        <p:spPr>
          <a:xfrm>
            <a:off x="9144000" y="3200400"/>
            <a:ext cx="731520" cy="457200"/>
          </a:xfrm>
          <a:prstGeom prst="lef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It doesn't matter if the rating makes anything more sustainable.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DC2626"/>
                </a:solidFill>
                <a:latin typeface="Segoe UI"/>
              </a:defRPr>
            </a:pPr>
            <a:r>
              <a:t>They get paid either 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POLISHED REPORT 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DC2626"/>
                </a:solidFill>
                <a:latin typeface="Segoe UI"/>
              </a:defRPr>
            </a:pPr>
            <a:r>
              <a:t>TERRIBLE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707070"/>
                </a:solidFill>
                <a:latin typeface="Segoe UI"/>
              </a:defRPr>
            </a:pPr>
            <a:r>
              <a:t>Scores higher than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227C5C"/>
                </a:solidFill>
                <a:latin typeface="Segoe UI"/>
              </a:defRPr>
            </a:pPr>
            <a:r>
              <a:t>GREAT OPERATIONS 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NO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ARE YOU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A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D97706"/>
                </a:solidFill>
                <a:latin typeface="Segoe UI"/>
              </a:defRPr>
            </a:pPr>
            <a:r>
              <a:t>OR FLIPPING ONE?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37160" cy="5486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DC2626"/>
                </a:solidFill>
                <a:latin typeface="Segoe UI"/>
              </a:defRPr>
            </a:pPr>
            <a:r>
              <a:t>NEXT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Cut corners.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Push costs onto someone else.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Squeeze your suppliers.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Extract value fast.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Looks great on paper.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For a while.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914400"/>
            <a:ext cx="137160" cy="5486400"/>
          </a:xfrm>
          <a:prstGeom prst="rect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27C5C"/>
                </a:solidFill>
                <a:latin typeface="Segoe UI"/>
              </a:defRPr>
            </a:pPr>
            <a:r>
              <a:t>NEXT DECADE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Know your costs.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Manage your waste.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Diversify your supply chain.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Build something resilient.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Svenja's building something</a:t>
            </a:r>
          </a:p>
          <a:p>
            <a:pPr algn="l">
              <a:spcAft>
                <a:spcPts val="800"/>
              </a:spcAft>
              <a:defRPr sz="2000">
                <a:solidFill>
                  <a:srgbClr val="A0A0A0"/>
                </a:solidFill>
                <a:latin typeface="Segoe UI"/>
              </a:defRPr>
            </a:pPr>
            <a:r>
              <a:t>her kids could take 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1323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707070"/>
                </a:solidFill>
                <a:latin typeface="Segoe UI"/>
              </a:defRPr>
            </a:pPr>
            <a:r>
              <a:t>Those are different games.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SUSTAINABILITY ISN'T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OPPOSITE OF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227C5C"/>
                </a:solidFill>
                <a:latin typeface="Segoe UI"/>
              </a:defRPr>
            </a:pPr>
            <a:r>
              <a:t>It's just what it looks like when you play the longer game.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YOUR CUSTOMER DEMANDS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C2626"/>
                </a:solidFill>
                <a:latin typeface="Segoe UI"/>
              </a:defRPr>
            </a:pPr>
            <a:r>
              <a:t>BUT DOESN'T GIVE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They want your sustainability data.</a:t>
            </a: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Do they offer tools? Training? Shared costs?</a:t>
            </a: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Or do they just demand and punish?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THAT'S NOT A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DC2626"/>
                </a:solidFill>
                <a:latin typeface="Segoe UI"/>
              </a:defRPr>
            </a:pPr>
            <a:r>
              <a:t>That's extraction.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400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>
                <a:solidFill>
                  <a:srgbClr val="707070"/>
                </a:solidFill>
                <a:latin typeface="Segoe UI"/>
              </a:defRPr>
            </a:pPr>
            <a:r>
              <a:t>Real supply chain sustainability would be: shared data, shared tools, shared benefit.</a:t>
            </a:r>
          </a:p>
          <a:p>
            <a:pPr algn="ctr">
              <a:spcAft>
                <a:spcPts val="800"/>
              </a:spcAft>
              <a:defRPr sz="2000">
                <a:solidFill>
                  <a:srgbClr val="707070"/>
                </a:solidFill>
                <a:latin typeface="Segoe UI"/>
              </a:defRPr>
            </a:pPr>
            <a:r>
              <a:t>Almost nobody does this.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Segoe UI"/>
              </a:defRPr>
            </a:pPr>
            <a:r>
              <a:t>RIGHT NOW THE GAME REWARDS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r>
              <a:t>Paperwork over improvement.</a:t>
            </a:r>
          </a:p>
          <a:p>
            <a:pPr algn="ctr">
              <a:spcAft>
                <a:spcPts val="20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r>
              <a:t>Extraction over cooperation.</a:t>
            </a:r>
          </a:p>
          <a:p>
            <a:pPr algn="ctr">
              <a:spcAft>
                <a:spcPts val="2000"/>
              </a:spcAft>
              <a:defRPr sz="2800">
                <a:solidFill>
                  <a:srgbClr val="A0A0A0"/>
                </a:solidFill>
                <a:latin typeface="Segoe UI"/>
              </a:defRPr>
            </a:pPr>
            <a:r>
              <a:t>Short-term over long-term.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5486400"/>
            <a:ext cx="5486400" cy="45720"/>
          </a:xfrm>
          <a:prstGeom prst="rect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707070"/>
                </a:solidFill>
                <a:latin typeface="Segoe UI"/>
              </a:defRPr>
            </a:pPr>
            <a:r>
              <a:t>Not because people are bad. Because the game is badly designed.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ONCE YOU SEE THE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YOU CAN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227C5C"/>
                </a:solidFill>
                <a:latin typeface="Segoe UI"/>
              </a:defRPr>
            </a:pPr>
            <a:r>
              <a:t>HOW TO PLAY 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NEXT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29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What sustainability actually looks like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when you stop playing their game and start playing your 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