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 WORD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IS GERMAN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It's 300 years 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 had nothing to do with environmentalism.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7070"/>
                </a:solidFill>
                <a:latin typeface="Segoe UI"/>
              </a:defRPr>
            </a:pPr>
            <a:r>
              <a:t>THE 5 STACKS  |  Video 2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THOUSANDS OF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BEFORE THE WORD EXISTED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Controlled burns. Rotational farming. Seasonal harvesting.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Every continent. Every culture.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Not called 'sustainability.' Called survival.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YOU MANAGE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OR YOU DON'T EAT NEXT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No frameworks. No reports. No consultants.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Just intergenerational common sense.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EDO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1603 – 1868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250 years of near-total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Nothing wasted because nothing could be replaced.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943600"/>
            <a:ext cx="2560320" cy="1097280"/>
          </a:xfrm>
          <a:prstGeom prst="roundRect">
            <a:avLst/>
          </a:prstGeom>
          <a:noFill/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6292185"/>
            <a:ext cx="25603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rPr dirty="0"/>
              <a:t>New clothing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6217920"/>
            <a:ext cx="365760" cy="45720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3440" y="5943600"/>
            <a:ext cx="2560320" cy="1097280"/>
          </a:xfrm>
          <a:prstGeom prst="roundRect">
            <a:avLst/>
          </a:prstGeom>
          <a:noFill/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6292185"/>
            <a:ext cx="25603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Worn clothing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9479" y="6217920"/>
            <a:ext cx="365760" cy="45720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79" y="5943600"/>
            <a:ext cx="2560320" cy="1097280"/>
          </a:xfrm>
          <a:prstGeom prst="roundRect">
            <a:avLst/>
          </a:prstGeom>
          <a:noFill/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6292185"/>
            <a:ext cx="25603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Rags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561320" y="6217920"/>
            <a:ext cx="365760" cy="45720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247119" y="5943600"/>
            <a:ext cx="2560320" cy="1097280"/>
          </a:xfrm>
          <a:prstGeom prst="roundRect">
            <a:avLst/>
          </a:prstGeom>
          <a:noFill/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19" y="6292185"/>
            <a:ext cx="25603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Segoe UI"/>
              </a:defRPr>
            </a:pPr>
            <a: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707070"/>
                </a:solidFill>
                <a:latin typeface="Segoe UI"/>
              </a:defRPr>
            </a:pPr>
            <a:r>
              <a:t>Circularity by necessity — not by certification.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MEDIEVAL EUROPEAN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COMMONS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Communities set limits on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Not because they were green. Because overharvesting destroyed everyone.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6400800"/>
            <a:ext cx="3200400" cy="1371600"/>
          </a:xfrm>
          <a:prstGeom prst="roundRect">
            <a:avLst/>
          </a:prstGeom>
          <a:noFill/>
          <a:ln w="127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6492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27C5C"/>
                </a:solidFill>
                <a:latin typeface="Segoe UI"/>
              </a:defRPr>
            </a:pPr>
            <a:r>
              <a:t>Shared grazing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040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0A0A0"/>
                </a:solidFill>
                <a:latin typeface="Segoe UI"/>
              </a:defRPr>
            </a:pPr>
            <a:r>
              <a:t>Limits per household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6400800"/>
            <a:ext cx="3200400" cy="1371600"/>
          </a:xfrm>
          <a:prstGeom prst="roundRect">
            <a:avLst/>
          </a:prstGeom>
          <a:noFill/>
          <a:ln w="127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27C5C"/>
                </a:solidFill>
                <a:latin typeface="Segoe UI"/>
              </a:defRPr>
            </a:pPr>
            <a:r>
              <a:t>Forestry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7040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0A0A0"/>
                </a:solidFill>
                <a:latin typeface="Segoe UI"/>
              </a:defRPr>
            </a:pPr>
            <a:r>
              <a:t>Cut one, plant two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6400800"/>
            <a:ext cx="3200400" cy="1371600"/>
          </a:xfrm>
          <a:prstGeom prst="roundRect">
            <a:avLst/>
          </a:prstGeom>
          <a:noFill/>
          <a:ln w="127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6492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27C5C"/>
                </a:solidFill>
                <a:latin typeface="Segoe UI"/>
              </a:defRPr>
            </a:pPr>
            <a:r>
              <a:t>Water rights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7040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0A0A0"/>
                </a:solidFill>
                <a:latin typeface="Segoe UI"/>
              </a:defRPr>
            </a:pPr>
            <a:r>
              <a:t>Don't poison downstream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 i="0">
                <a:solidFill>
                  <a:srgbClr val="FFFFFF"/>
                </a:solidFill>
                <a:latin typeface="Segoe UI"/>
              </a:defRPr>
            </a:pPr>
            <a:r>
              <a:t>1713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HANS CARL VON CARLOWITZ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Saxon mining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"Don't cut more than grows back,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or you destroy the resource that feeds your industry."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227C5C"/>
                </a:solidFill>
                <a:latin typeface="Segoe UI"/>
              </a:defRPr>
            </a:pPr>
            <a:r>
              <a:t>He called it Nachhaltigkeit. We call it sustainability.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THAT'S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ENVIRONMENTALISM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227C5C"/>
                </a:solidFill>
                <a:latin typeface="Segoe UI"/>
              </a:defRPr>
            </a:pPr>
            <a:r>
              <a:t>That's operational resource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THEN 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DC2626"/>
                </a:solidFill>
                <a:latin typeface="Segoe UI"/>
              </a:defRPr>
            </a:pPr>
            <a:r>
              <a:t>BROKE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Fossil fuels removed the natural limits.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You could extract faster than systems could replenish.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One factory pollutes a river.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A thousand factories pollute a continent.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707070"/>
                </a:solidFill>
                <a:latin typeface="Segoe UI"/>
              </a:defRPr>
            </a:pPr>
            <a:r>
              <a:t>For 200 years, this was just called 'progress.'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COSTS GOT EXTERNALISED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Segoe UI"/>
              </a:defRPr>
            </a:pPr>
            <a:r>
              <a:t>The company profits.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C2626"/>
                </a:solidFill>
                <a:latin typeface="Segoe UI"/>
              </a:defRPr>
            </a:pPr>
            <a:r>
              <a:t>The community downstream gets sick.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1960s – 70s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 REDISCOVERY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Rachel Carson. Silent Spring. Rivers on fire.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People could finally see the damage.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response: regulation.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Clean Air Act. Clean Water Act. EPA.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707070"/>
                </a:solidFill>
                <a:latin typeface="Segoe UI"/>
              </a:defRPr>
            </a:pPr>
            <a:r>
              <a:t>Straightforward: stop poisoning things. It worked for the visible stuff.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1980s – 2000s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SUSTAINABILITY BECOMES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97706"/>
                </a:solidFill>
                <a:latin typeface="Segoe UI"/>
              </a:defRPr>
            </a:pPr>
            <a:r>
              <a:t>A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Companies self-regulate before regulation hits them.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CSR emerges. Brundtland Report. Voluntary reporting.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GRI. UN Global Compact. CDP.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Reporting becomes standardized. Which means it becomes a product.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DC2626"/>
                </a:solidFill>
                <a:latin typeface="Segoe UI"/>
              </a:defRPr>
            </a:pPr>
            <a:r>
              <a:t>THE GAP OPENS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What companies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707070"/>
                </a:solidFill>
                <a:latin typeface="Segoe UI"/>
              </a:defRPr>
            </a:pPr>
            <a:r>
              <a:t>vs.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What they actually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029200"/>
            <a:ext cx="91440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Two different things. Increasingly 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2010s – 2020s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 INDUSTRY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ESG becomes an investment lens. Rating agencies emerge.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Supply chain questionnaires cascade downhill.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CSRD. EU Taxonomy. Mandatory reporting.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 sustainability industry is now worth tens of billions.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Software. Consulting. Auditing. Certification.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AND AT THE 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DC2626"/>
                </a:solidFill>
                <a:latin typeface="Segoe UI"/>
              </a:defRPr>
            </a:pPr>
            <a:r>
              <a:t>Jim. 47 pages. No team. A deadline.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DIFFERENT PEOPLE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SUSTAINABILITY DIFFERENTLY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227C5C"/>
                </a:solidFill>
                <a:latin typeface="Segoe UI"/>
              </a:defRPr>
            </a:pPr>
            <a:r>
              <a:t>THE ACADEMIC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Research. Models. Peer review.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Important work.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But disconnected from a 15-person business.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THE HATERS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"ESG is woke." "Sustainability kills shareholder value."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Often funded by industries that benefit from no regulation.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But they have a point: the current system is performative.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They just draw the wrong conclusion.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97706"/>
                </a:solidFill>
                <a:latin typeface="Segoe UI"/>
              </a:defRPr>
            </a:pPr>
            <a:r>
              <a:t>THE CORPORATE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Sustainability = reporting + compliance + brand positioning.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endParaRPr/>
          </a:p>
          <a:p>
            <a:pPr algn="ctr">
              <a:spcAft>
                <a:spcPts val="12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A department, not a practice.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 ALPHABET SOUP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707070"/>
                </a:solidFill>
                <a:latin typeface="Segoe UI"/>
              </a:defRPr>
            </a:pPr>
            <a:r>
              <a:t>ESG  CSR  CSRD  CDP  GRI  SASB  TCFD  SFDR  VSME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Every framework adds a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Every layer needs software, consultants, and auditors.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IN PLAIN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137160" cy="13716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27C5C"/>
                </a:solidFill>
                <a:latin typeface="Segoe UI"/>
              </a:defRPr>
            </a:pPr>
            <a:r>
              <a:t>SCOPE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0A0A0"/>
                </a:solidFill>
                <a:latin typeface="Segoe UI"/>
              </a:defRPr>
            </a:pPr>
            <a:r>
              <a:t>What comes out of your building and vehicles.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13716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97706"/>
                </a:solidFill>
                <a:latin typeface="Segoe UI"/>
              </a:defRPr>
            </a:pPr>
            <a:r>
              <a:t>SCOPE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0A0A0"/>
                </a:solidFill>
                <a:latin typeface="Segoe UI"/>
              </a:defRPr>
            </a:pPr>
            <a:r>
              <a:t>Your electricity. Whatever the grid used to generate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760720"/>
            <a:ext cx="13716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C2626"/>
                </a:solidFill>
                <a:latin typeface="Segoe UI"/>
              </a:defRPr>
            </a:pPr>
            <a:r>
              <a:t>SCOPE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400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0A0A0"/>
                </a:solidFill>
                <a:latin typeface="Segoe UI"/>
              </a:defRPr>
            </a:pPr>
            <a:r>
              <a:t>Everything else. Your supply chain. Your customers' use of your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7040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DC2626"/>
                </a:solidFill>
                <a:latin typeface="Segoe UI"/>
              </a:defRPr>
            </a:pPr>
            <a:r>
              <a:t>This is where it gets absurd for small businesses.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NONE OF THESE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WERE DESIGNED FOR YOU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solidFill>
                  <a:srgbClr val="A0A0A0"/>
                </a:solidFill>
                <a:latin typeface="Segoe UI"/>
              </a:defRPr>
            </a:pPr>
            <a:r>
              <a:t>FOR 300 YEARS,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solidFill>
                  <a:srgbClr val="A0A0A0"/>
                </a:solidFill>
                <a:latin typeface="Segoe UI"/>
              </a:defRPr>
            </a:pPr>
            <a:r>
              <a:t>SUSTAINABILITY MEANT: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"Manage your resources</a:t>
            </a:r>
          </a:p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so your business survives."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6400800"/>
            <a:ext cx="36576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Somewhere along the way, it became a compliance industry.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Who does this industry actually serve?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And why are the incentives designed this way?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Custom</PresentationFormat>
  <Paragraphs>124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2026-03-08T14:01:31Z</dcterms:modified>
  <cp:category/>
</cp:coreProperties>
</file>