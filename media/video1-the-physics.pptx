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1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SUSTAINABILITY IS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3891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  <a:latin typeface="Segoe UI"/>
              </a:defRPr>
            </a:pPr>
            <a:r>
              <a:t>Not a belief system. Not a political stance. Just cause and effect.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858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37373"/>
                </a:solidFill>
                <a:latin typeface="Segoe UI"/>
              </a:defRPr>
            </a:pPr>
            <a:r>
              <a:t>THE 5 STACKS  |  Video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Earth is a closed system</a:t>
            </a:r>
          </a:p>
        </p:txBody>
      </p:sp>
      <p:sp>
        <p:nvSpPr>
          <p:cNvPr id="3" name="Right Arrow 2"/>
          <p:cNvSpPr/>
          <p:nvPr/>
        </p:nvSpPr>
        <p:spPr>
          <a:xfrm>
            <a:off x="1371600" y="2743200"/>
            <a:ext cx="2286000" cy="7315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54480" y="2788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1717"/>
                </a:solidFill>
                <a:latin typeface="Segoe UI"/>
              </a:defRPr>
            </a:pPr>
            <a:r>
              <a:t>Energy in</a:t>
            </a:r>
          </a:p>
        </p:txBody>
      </p:sp>
      <p:sp>
        <p:nvSpPr>
          <p:cNvPr id="5" name="Oval 4"/>
          <p:cNvSpPr/>
          <p:nvPr/>
        </p:nvSpPr>
        <p:spPr>
          <a:xfrm>
            <a:off x="4572000" y="2011680"/>
            <a:ext cx="4114800" cy="4114800"/>
          </a:xfrm>
          <a:prstGeom prst="ellipse">
            <a:avLst/>
          </a:prstGeom>
          <a:solidFill>
            <a:srgbClr val="227C5C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0" y="34747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Segoe UI"/>
              </a:defRPr>
            </a:pPr>
            <a:r>
              <a:t>Matter stays.</a:t>
            </a:r>
            <a:br/>
            <a:r>
              <a:t>Everything we extract,</a:t>
            </a:r>
            <a:br/>
            <a:r>
              <a:t>we rearrange.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32004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04040"/>
                </a:solidFill>
                <a:latin typeface="Segoe UI"/>
              </a:defRPr>
            </a:pPr>
            <a:r>
              <a:t>Matter doesn't leave.</a:t>
            </a:r>
            <a:br/>
            <a:r>
              <a:t>No exit. No reset button.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Some outputs the system can absorb. Some it can't — or not fast enough.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The Bathtub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5486400" cy="3657600"/>
          </a:xfrm>
          <a:prstGeom prst="rect">
            <a:avLst/>
          </a:prstGeom>
          <a:noFill/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3657600"/>
            <a:ext cx="5394960" cy="2240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own Arrow 4"/>
          <p:cNvSpPr/>
          <p:nvPr/>
        </p:nvSpPr>
        <p:spPr>
          <a:xfrm>
            <a:off x="6217920" y="1097280"/>
            <a:ext cx="1097280" cy="1371600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11887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Segoe UI"/>
              </a:defRPr>
            </a:pPr>
            <a:r>
              <a:t>CO₂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188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373"/>
                </a:solidFill>
                <a:latin typeface="Segoe UI"/>
              </a:defRPr>
            </a:pPr>
            <a:r>
              <a:t>(fossil fuels,</a:t>
            </a:r>
            <a:br/>
            <a:r>
              <a:t>industry, land use)</a:t>
            </a:r>
          </a:p>
        </p:txBody>
      </p:sp>
      <p:sp>
        <p:nvSpPr>
          <p:cNvPr id="8" name="Down Arrow 7"/>
          <p:cNvSpPr/>
          <p:nvPr/>
        </p:nvSpPr>
        <p:spPr>
          <a:xfrm>
            <a:off x="6400800" y="5943600"/>
            <a:ext cx="731520" cy="914400"/>
          </a:xfrm>
          <a:prstGeom prst="downArrow">
            <a:avLst/>
          </a:prstGeom>
          <a:solidFill>
            <a:srgbClr val="227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6583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7C5C"/>
                </a:solidFill>
                <a:latin typeface="Segoe UI"/>
              </a:defRPr>
            </a:pPr>
            <a:r>
              <a:t>CO₂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836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373"/>
                </a:solidFill>
                <a:latin typeface="Segoe UI"/>
              </a:defRPr>
            </a:pPr>
            <a:r>
              <a:t>(oceans, forests,</a:t>
            </a:r>
            <a:br/>
            <a:r>
              <a:t>natural absorption)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1717"/>
                </a:solidFill>
                <a:latin typeface="Segoe UI"/>
              </a:defRPr>
            </a:pPr>
            <a:r>
              <a:t>The tap is running</a:t>
            </a:r>
            <a:br/>
            <a:r>
              <a:t>faster than the</a:t>
            </a:r>
            <a:br/>
            <a:r>
              <a:t>drain can empty.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260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04040"/>
                </a:solidFill>
                <a:latin typeface="Segoe UI"/>
              </a:defRPr>
            </a:pPr>
            <a:r>
              <a:t>That's not ideology.</a:t>
            </a:r>
            <a:br/>
            <a:r>
              <a:t>That's a bathtub</a:t>
            </a:r>
            <a:br/>
            <a:r>
              <a:t>overflowing.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Feedback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Systems don't just change. They amplify or stabilize.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743200"/>
            <a:ext cx="4572000" cy="3657600"/>
          </a:xfrm>
          <a:prstGeom prst="ellipse">
            <a:avLst/>
          </a:prstGeom>
          <a:noFill/>
          <a:ln w="25400">
            <a:solidFill>
              <a:srgbClr val="227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1168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7C5C"/>
                </a:solidFill>
                <a:latin typeface="Segoe UI"/>
              </a:defRPr>
            </a:pPr>
            <a:r>
              <a:t>STABILIZING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04040"/>
                </a:solidFill>
                <a:latin typeface="Segoe UI"/>
              </a:defRPr>
            </a:pPr>
            <a:r>
              <a:t>More heat → more evaporation</a:t>
            </a:r>
            <a:br/>
            <a:r>
              <a:t>→ more clouds → reflects sunlight</a:t>
            </a:r>
            <a:br/>
            <a:r>
              <a:t>→ cools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760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27C5C"/>
                </a:solidFill>
                <a:latin typeface="Segoe UI"/>
              </a:defRPr>
            </a:pPr>
            <a:r>
              <a:t>Self-correcting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743200"/>
            <a:ext cx="4572000" cy="3657600"/>
          </a:xfrm>
          <a:prstGeom prst="ellipse">
            <a:avLst/>
          </a:prstGeom>
          <a:noFill/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3200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  <a:latin typeface="Segoe UI"/>
              </a:defRPr>
            </a:pPr>
            <a:r>
              <a:t>AMPLIFYING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04040"/>
                </a:solidFill>
                <a:latin typeface="Segoe UI"/>
              </a:defRPr>
            </a:pPr>
            <a:r>
              <a:t>Less ice → less reflection</a:t>
            </a:r>
            <a:br/>
            <a:r>
              <a:t>→ more heat absorbed</a:t>
            </a:r>
            <a:br/>
            <a:r>
              <a:t>→ more ice melts → repeat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7607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C2626"/>
                </a:solidFill>
                <a:latin typeface="Segoe UI"/>
              </a:defRPr>
            </a:pPr>
            <a:r>
              <a:t>Self-reinforcing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The Ice-Albedo 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116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Ice reflects</a:t>
            </a:r>
            <a:br/>
            <a:r>
              <a:t>sunlight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Less 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28600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0" y="25603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heat</a:t>
            </a:r>
            <a:br/>
            <a:r>
              <a:t>absorbed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5029200"/>
            <a:ext cx="27432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7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530352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71717"/>
                </a:solidFill>
                <a:latin typeface="Segoe UI"/>
              </a:defRPr>
            </a:pPr>
            <a:r>
              <a:t>More ice</a:t>
            </a:r>
            <a:br/>
            <a:r>
              <a:t>melts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54880" y="2743200"/>
            <a:ext cx="1463040" cy="54864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9326880" y="2743200"/>
            <a:ext cx="1463040" cy="54864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own Arrow 12"/>
          <p:cNvSpPr/>
          <p:nvPr/>
        </p:nvSpPr>
        <p:spPr>
          <a:xfrm>
            <a:off x="11887200" y="4114800"/>
            <a:ext cx="548640" cy="914400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Left Arrow 13"/>
          <p:cNvSpPr/>
          <p:nvPr/>
        </p:nvSpPr>
        <p:spPr>
          <a:xfrm>
            <a:off x="4754880" y="5486400"/>
            <a:ext cx="1463040" cy="548640"/>
          </a:xfrm>
          <a:prstGeom prst="lef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own Arrow 14"/>
          <p:cNvSpPr/>
          <p:nvPr/>
        </p:nvSpPr>
        <p:spPr>
          <a:xfrm>
            <a:off x="2560320" y="4114800"/>
            <a:ext cx="548640" cy="914400"/>
          </a:xfrm>
          <a:prstGeom prst="down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73152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This isn't a prediction. This is measured, observed, documented.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71717"/>
                </a:solidFill>
                <a:latin typeface="Segoe UI"/>
              </a:defRPr>
            </a:pPr>
            <a:r>
              <a:t>Tipping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37373"/>
                </a:solidFill>
                <a:latin typeface="Segoe UI"/>
              </a:defRPr>
            </a:pPr>
            <a:r>
              <a:t>Systems don't degrade gradually. They hold — then shift.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3200400" cy="3657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768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HOLDS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3657600"/>
            <a:ext cx="3200400" cy="36576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7C5C"/>
                </a:solidFill>
                <a:latin typeface="Segoe UI"/>
              </a:defRPr>
            </a:pPr>
            <a:r>
              <a:t>HOLDS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893040" y="4023360"/>
            <a:ext cx="274320" cy="13716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66960" y="3657600"/>
            <a:ext cx="137160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704320" y="3931920"/>
            <a:ext cx="146304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60" y="2743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C2626"/>
                </a:solidFill>
                <a:latin typeface="Segoe UI"/>
              </a:defRPr>
            </a:pPr>
            <a:r>
              <a:t>BREAKS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04040"/>
                </a:solidFill>
                <a:latin typeface="Segoe UI"/>
              </a:defRPr>
            </a:pPr>
            <a:r>
              <a:t>A rainforest can handle some clearing.</a:t>
            </a:r>
            <a:br/>
            <a:r>
              <a:t>Past a threshold, it becomes savanna. That transition isn't reversible on human timescales.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0" b="1">
                <a:solidFill>
                  <a:srgbClr val="FFFFFF"/>
                </a:solidFill>
                <a:latin typeface="Segoe UI"/>
              </a:defRPr>
            </a:pPr>
            <a:r>
              <a:t>71%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3A3A3"/>
                </a:solidFill>
                <a:latin typeface="Segoe UI"/>
              </a:defRPr>
            </a:pPr>
            <a:r>
              <a:t>of global industrial greenhouse gas emissions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100 companies.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6400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37373"/>
                </a:solidFill>
                <a:latin typeface="Segoe UI"/>
              </a:defRPr>
            </a:pPr>
            <a:r>
              <a:t>The chemicals in your water, the microplastics in your food —</a:t>
            </a:r>
            <a:br/>
            <a:r>
              <a:t>those come from industrial-scale decisions made by a small number of very large companies.</a:t>
            </a:r>
            <a:br/>
            <a:r>
              <a:t>Not from Jim's tire shop. Not from Svenja's sewing company.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71717"/>
                </a:solidFill>
                <a:latin typeface="Segoe UI"/>
              </a:defRPr>
            </a:pPr>
            <a:r>
              <a:t>The physics is real.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404040"/>
                </a:solidFill>
                <a:latin typeface="Segoe UI"/>
              </a:defRPr>
            </a:pPr>
            <a:r>
              <a:t>The environment matters. That's not the debate.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3657600"/>
            <a:ext cx="2743200" cy="457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11887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37373"/>
                </a:solidFill>
                <a:latin typeface="Segoe UI"/>
              </a:defRPr>
            </a:pPr>
            <a:r>
              <a:t>The debate 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71717"/>
                </a:solidFill>
                <a:latin typeface="Segoe UI"/>
              </a:defRPr>
            </a:pPr>
            <a:r>
              <a:t>Who's responsible?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71717"/>
                </a:solidFill>
                <a:latin typeface="Segoe UI"/>
              </a:defRPr>
            </a:pPr>
            <a:r>
              <a:t>Who's paying?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858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71717"/>
                </a:solidFill>
                <a:latin typeface="Segoe UI"/>
              </a:defRPr>
            </a:pPr>
            <a:r>
              <a:t>Does the system built to 'fix' it actually work?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Next: How did we get 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A3A3A3"/>
                </a:solidFill>
                <a:latin typeface="Segoe UI"/>
              </a:defRPr>
            </a:pPr>
            <a:r>
              <a:t>From 'don't dump chemicals in the river'</a:t>
            </a:r>
            <a:br/>
            <a:r>
              <a:t>to a $30 billion compliance industry.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6400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37373"/>
                </a:solidFill>
                <a:latin typeface="Segoe UI"/>
              </a:defRPr>
            </a:pPr>
            <a:r>
              <a:t>Subscribe  |  THE 5 STACKS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Custom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2026-03-08T14:01:03Z</dcterms:modified>
  <cp:category/>
</cp:coreProperties>
</file>