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THE WORD SUSTAINABILITY IS GERMAN.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  <a:latin typeface="Segoe UI"/>
              </a:defRPr>
            </a:pPr>
            <a:r>
              <a:t>It's 300 years old. And it had nothing to do with environmentalism.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How did we get from resource management to a $30 billion compliance industry?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37373"/>
                </a:solidFill>
                <a:latin typeface="Segoe UI"/>
              </a:defRPr>
            </a:pPr>
            <a:r>
              <a:t>THE 5 STACKS  |  Video 2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71717"/>
                </a:solidFill>
                <a:latin typeface="Segoe UI"/>
              </a:defRPr>
            </a:pPr>
            <a:r>
              <a:t>Thousands of years before the word existed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Controlled burns.</a:t>
            </a:r>
          </a:p>
          <a:p>
            <a:pPr algn="l">
              <a:spcAft>
                <a:spcPts val="10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Rotational farming.</a:t>
            </a:r>
          </a:p>
          <a:p>
            <a:pPr algn="l">
              <a:spcAft>
                <a:spcPts val="10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Seasonal harvesting.</a:t>
            </a:r>
          </a:p>
          <a:p>
            <a:pPr algn="l">
              <a:spcAft>
                <a:spcPts val="10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Managed forests.</a:t>
            </a:r>
          </a:p>
          <a:p>
            <a:pPr algn="l">
              <a:spcAft>
                <a:spcPts val="1000"/>
              </a:spcAft>
              <a:defRPr sz="2200">
                <a:solidFill>
                  <a:srgbClr val="404040"/>
                </a:solidFill>
                <a:latin typeface="Segoe UI"/>
              </a:defRPr>
            </a:pPr>
          </a:p>
          <a:p>
            <a:pPr algn="l">
              <a:spcAft>
                <a:spcPts val="10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Every continent. Every culture.</a:t>
            </a:r>
          </a:p>
          <a:p>
            <a:pPr algn="l">
              <a:spcAft>
                <a:spcPts val="10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Not called 'sustainability.'</a:t>
            </a:r>
          </a:p>
          <a:p>
            <a:pPr algn="l">
              <a:spcAft>
                <a:spcPts val="10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Called survival.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2286000"/>
            <a:ext cx="5029200" cy="3657600"/>
          </a:xfrm>
          <a:prstGeom prst="round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27432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You manage resources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or you don't eat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next year.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No frameworks.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No reports.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Just common sense.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1323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Intergenerational resource management — the original sustainability.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Edo Japan (1603–1868)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250 years of near-total isolation. Nothing wasted because nothing could be replaced.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3520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1717"/>
                </a:solidFill>
                <a:latin typeface="Segoe UI"/>
              </a:defRPr>
            </a:pPr>
            <a:r>
              <a:t>New clothing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3520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1717"/>
                </a:solidFill>
                <a:latin typeface="Segoe UI"/>
              </a:defRPr>
            </a:pPr>
            <a:r>
              <a:t>Worn clothing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3520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1717"/>
                </a:solidFill>
                <a:latin typeface="Segoe UI"/>
              </a:defRPr>
            </a:pPr>
            <a:r>
              <a:t>Rags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32004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3520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1717"/>
                </a:solidFill>
                <a:latin typeface="Segoe UI"/>
              </a:defRPr>
            </a:pPr>
            <a:r>
              <a:t>Paper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06240" y="3566160"/>
            <a:ext cx="365760" cy="457200"/>
          </a:xfrm>
          <a:prstGeom prst="rightArrow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406640" y="3566160"/>
            <a:ext cx="365760" cy="457200"/>
          </a:xfrm>
          <a:prstGeom prst="rightArrow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10607040" y="3566160"/>
            <a:ext cx="365760" cy="457200"/>
          </a:xfrm>
          <a:prstGeom prst="rightArrow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71717"/>
                </a:solidFill>
                <a:latin typeface="Segoe UI"/>
              </a:defRPr>
            </a:pPr>
            <a:r>
              <a:t>An entire economy built on 'use everything.'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Circularity by necessity — not by certification.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Medieval European Commons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Communities set limits on extraction — not because they were green, but because overharvesting destroyed everyone's livelihood.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7C5C"/>
                </a:solidFill>
                <a:latin typeface="Segoe UI"/>
              </a:defRPr>
            </a:pPr>
            <a:r>
              <a:t>Shared grazing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04040"/>
                </a:solidFill>
                <a:latin typeface="Segoe UI"/>
              </a:defRPr>
            </a:pPr>
            <a:r>
              <a:t>Limits on how many</a:t>
            </a:r>
            <a:br/>
            <a:r>
              <a:t>animals per household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2004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7C5C"/>
                </a:solidFill>
                <a:latin typeface="Segoe UI"/>
              </a:defRPr>
            </a:pPr>
            <a:r>
              <a:t>Forestry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04040"/>
                </a:solidFill>
                <a:latin typeface="Segoe UI"/>
              </a:defRPr>
            </a:pPr>
            <a:r>
              <a:t>Cut one tree,</a:t>
            </a:r>
            <a:br/>
            <a:r>
              <a:t>plant two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32004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7C5C"/>
                </a:solidFill>
                <a:latin typeface="Segoe UI"/>
              </a:defRPr>
            </a:pPr>
            <a:r>
              <a:t>Water rights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4389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04040"/>
                </a:solidFill>
                <a:latin typeface="Segoe UI"/>
              </a:defRPr>
            </a:pPr>
            <a:r>
              <a:t>Upstream users can't</a:t>
            </a:r>
            <a:br/>
            <a:r>
              <a:t>poison downstream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1323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Community-managed sustainability. No consultants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Segoe UI"/>
              </a:defRPr>
            </a:pPr>
            <a:r>
              <a:t>1713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Hans Carl von Carlowitz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3A3A3"/>
                </a:solidFill>
                <a:latin typeface="Segoe UI"/>
              </a:defRPr>
            </a:pPr>
            <a:r>
              <a:t>Saxon mining administrator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3931920"/>
            <a:ext cx="2743200" cy="4572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A3A3A3"/>
                </a:solidFill>
                <a:latin typeface="Segoe UI"/>
              </a:defRPr>
            </a:pPr>
            <a:r>
              <a:t>The mines needed timber. They were running out.</a:t>
            </a:r>
          </a:p>
          <a:p>
            <a:pPr algn="ctr">
              <a:spcAft>
                <a:spcPts val="600"/>
              </a:spcAft>
              <a:defRPr sz="2400" b="0">
                <a:solidFill>
                  <a:srgbClr val="A3A3A3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2400" b="1">
                <a:solidFill>
                  <a:srgbClr val="A3A3A3"/>
                </a:solidFill>
                <a:latin typeface="Segoe UI"/>
              </a:defRPr>
            </a:pPr>
            <a:r>
              <a:t>"Don't cut more than grows back,</a:t>
            </a:r>
          </a:p>
          <a:p>
            <a:pPr algn="ctr">
              <a:spcAft>
                <a:spcPts val="600"/>
              </a:spcAft>
              <a:defRPr sz="2400" b="1">
                <a:solidFill>
                  <a:srgbClr val="A3A3A3"/>
                </a:solidFill>
                <a:latin typeface="Segoe UI"/>
              </a:defRPr>
            </a:pPr>
            <a:r>
              <a:t>or you destroy the resource that feeds your industry."</a:t>
            </a:r>
          </a:p>
          <a:p>
            <a:pPr algn="ctr">
              <a:spcAft>
                <a:spcPts val="600"/>
              </a:spcAft>
              <a:defRPr sz="2400" b="0">
                <a:solidFill>
                  <a:srgbClr val="A3A3A3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2400" b="1">
                <a:solidFill>
                  <a:srgbClr val="A3A3A3"/>
                </a:solidFill>
                <a:latin typeface="Segoe UI"/>
              </a:defRPr>
            </a:pPr>
            <a:r>
              <a:t>He called it Nachhaltigkeit.</a:t>
            </a:r>
          </a:p>
          <a:p>
            <a:pPr algn="ctr">
              <a:spcAft>
                <a:spcPts val="600"/>
              </a:spcAft>
              <a:defRPr sz="2400" b="1">
                <a:solidFill>
                  <a:srgbClr val="A3A3A3"/>
                </a:solidFill>
                <a:latin typeface="Segoe UI"/>
              </a:defRPr>
            </a:pPr>
            <a:r>
              <a:t>We call it sustainability.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7315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7C5C"/>
                </a:solidFill>
                <a:latin typeface="Segoe UI"/>
              </a:defRPr>
            </a:pPr>
            <a:r>
              <a:t>That's not environmentalism. That's operational resource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Then industrialisation broke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Fossil fuels removed the natural limits.</a:t>
            </a:r>
          </a:p>
          <a:p>
            <a:pPr algn="l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You could extract faster than</a:t>
            </a:r>
          </a:p>
          <a:p>
            <a:pPr algn="l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systems could replenish.</a:t>
            </a:r>
          </a:p>
          <a:p>
            <a:pPr algn="l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One factory pollutes a river.</a:t>
            </a:r>
          </a:p>
          <a:p>
            <a:pPr algn="l">
              <a:spcAft>
                <a:spcPts val="800"/>
              </a:spcAft>
              <a:defRPr sz="2200">
                <a:solidFill>
                  <a:srgbClr val="404040"/>
                </a:solidFill>
                <a:latin typeface="Segoe UI"/>
              </a:defRPr>
            </a:pPr>
            <a:r>
              <a:t>A thousand factories pollute a continent.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2286000"/>
            <a:ext cx="5029200" cy="2743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2743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Costs got externalised.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The company profits.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The community downstream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gets sick.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37373"/>
                </a:solidFill>
                <a:latin typeface="Segoe UI"/>
              </a:defRPr>
            </a:pPr>
            <a:r>
              <a:t>For 200 years, this was just called 'progress.'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1960s–70s: The Rediscovery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People could finally see the damage.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Rachel Carson, Silent Spring (1962)</a:t>
            </a:r>
          </a:p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Cuyahoga River on fire (1969)</a:t>
            </a:r>
          </a:p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Visible pollution. Visible outrage.</a:t>
            </a:r>
          </a:p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The response: regulation.</a:t>
            </a:r>
          </a:p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Clean Air Act. Clean Water Act. EPA.</a:t>
            </a:r>
          </a:p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Straightforward: stop poisoning things.</a:t>
            </a:r>
          </a:p>
          <a:p>
            <a:pPr algn="l">
              <a:spcAft>
                <a:spcPts val="8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It worked for the visible stuff.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743200"/>
            <a:ext cx="4572000" cy="3200400"/>
          </a:xfrm>
          <a:prstGeom prst="round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32004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This era was simple: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Don't dump chemicals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in the river.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Everyone agreed.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71717"/>
                </a:solidFill>
                <a:latin typeface="Segoe UI"/>
              </a:defRPr>
            </a:pPr>
            <a:r>
              <a:t>1980s–2000s: Sustainability becomes a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36576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7C5C"/>
                </a:solidFill>
                <a:latin typeface="Segoe UI"/>
              </a:defRPr>
            </a:pPr>
            <a:r>
              <a:t>1980s-90s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9260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Companies self-regulate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before regulation hits them.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'CSR' emerges.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Brundtland Report (1987).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Sustainability becomes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an industry, not a practice.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36576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7C5C"/>
                </a:solidFill>
                <a:latin typeface="Segoe UI"/>
              </a:defRPr>
            </a:pPr>
            <a:r>
              <a:t>2000s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9260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GRI. UN Global Compact.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CDP launches (2000).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Reporting = standardized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= a product to sell.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Sustainability teams hired</a:t>
            </a:r>
          </a:p>
          <a:p>
            <a:pPr algn="ctr">
              <a:spcAft>
                <a:spcPts val="600"/>
              </a:spcAft>
              <a:defRPr sz="1800">
                <a:solidFill>
                  <a:srgbClr val="404040"/>
                </a:solidFill>
                <a:latin typeface="Segoe UI"/>
              </a:defRPr>
            </a:pPr>
            <a:r>
              <a:t>to fill out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828800"/>
            <a:ext cx="4114800" cy="5029200"/>
          </a:xfrm>
          <a:prstGeom prst="round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The gap opens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32004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What companies report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vs.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what they actually do.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Two different things.</a:t>
            </a:r>
          </a:p>
          <a:p>
            <a:pPr algn="ctr"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Increasingly 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The word 'sustainability' has now left the forest and entered the boardroom.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2010s–2020s: The industry arrives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ESG becomes an investment lens.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BlackRock. Larry Fink's letters.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Rating agencies emerge: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EcoVadis, Sustainalytics, MSCI ESG.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Supply chain questionnaires cascade.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Big companies push reporting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requirements down to suppliers.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Paris Agreement (2015). SDGs.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CSRD, EU Taxonomy, SFDR (2020s).</a:t>
            </a:r>
          </a:p>
          <a:p>
            <a:pPr algn="l">
              <a:spcAft>
                <a:spcPts val="600"/>
              </a:spcAft>
              <a:defRPr sz="2000">
                <a:solidFill>
                  <a:srgbClr val="404040"/>
                </a:solidFill>
                <a:latin typeface="Segoe UI"/>
              </a:defRPr>
            </a:pPr>
            <a:r>
              <a:t>Mandatory reporting arrives.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2286000"/>
            <a:ext cx="5029200" cy="4114800"/>
          </a:xfrm>
          <a:prstGeom prst="round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2743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A3A3A3"/>
                </a:solidFill>
                <a:latin typeface="Segoe UI"/>
              </a:defRPr>
            </a:pPr>
            <a:r>
              <a:t>The sustainability industry</a:t>
            </a:r>
          </a:p>
          <a:p>
            <a:pPr algn="ctr">
              <a:spcAft>
                <a:spcPts val="600"/>
              </a:spcAft>
              <a:defRPr sz="2000">
                <a:solidFill>
                  <a:srgbClr val="A3A3A3"/>
                </a:solidFill>
                <a:latin typeface="Segoe UI"/>
              </a:defRPr>
            </a:pPr>
            <a:r>
              <a:t>is now worth</a:t>
            </a:r>
          </a:p>
          <a:p>
            <a:pPr algn="ctr">
              <a:spcAft>
                <a:spcPts val="600"/>
              </a:spcAft>
              <a:defRPr sz="2000">
                <a:solidFill>
                  <a:srgbClr val="A3A3A3"/>
                </a:solidFill>
                <a:latin typeface="Segoe UI"/>
              </a:defRPr>
            </a:pPr>
            <a:r>
              <a:t>tens of billions.</a:t>
            </a:r>
          </a:p>
          <a:p>
            <a:pPr algn="ctr">
              <a:spcAft>
                <a:spcPts val="600"/>
              </a:spcAft>
              <a:defRPr sz="2000">
                <a:solidFill>
                  <a:srgbClr val="A3A3A3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2000">
                <a:solidFill>
                  <a:srgbClr val="A3A3A3"/>
                </a:solidFill>
                <a:latin typeface="Segoe UI"/>
              </a:defRPr>
            </a:pPr>
            <a:r>
              <a:t>Software. Consulting.</a:t>
            </a:r>
          </a:p>
          <a:p>
            <a:pPr algn="ctr">
              <a:spcAft>
                <a:spcPts val="600"/>
              </a:spcAft>
              <a:defRPr sz="2000">
                <a:solidFill>
                  <a:srgbClr val="A3A3A3"/>
                </a:solidFill>
                <a:latin typeface="Segoe UI"/>
              </a:defRPr>
            </a:pPr>
            <a:r>
              <a:t>Auditing. Certification.</a:t>
            </a:r>
          </a:p>
          <a:p>
            <a:pPr algn="ctr">
              <a:spcAft>
                <a:spcPts val="600"/>
              </a:spcAft>
              <a:defRPr sz="2000">
                <a:solidFill>
                  <a:srgbClr val="A3A3A3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2000">
                <a:solidFill>
                  <a:srgbClr val="A3A3A3"/>
                </a:solidFill>
                <a:latin typeface="Segoe UI"/>
              </a:defRPr>
            </a:pPr>
            <a:r>
              <a:t>And at the bottom: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858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Jim. 47 pages. No team. A deadline.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71717"/>
                </a:solidFill>
                <a:latin typeface="Segoe UI"/>
              </a:defRPr>
            </a:pPr>
            <a:r>
              <a:t>Different people see sustainability differently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34747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7C5C"/>
                </a:solidFill>
                <a:latin typeface="Segoe UI"/>
              </a:defRPr>
            </a:pPr>
            <a:r>
              <a:t>Academia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04040"/>
                </a:solidFill>
                <a:latin typeface="Segoe UI"/>
              </a:defRPr>
            </a:pPr>
            <a:r>
              <a:t>Research. Models. Peer review.</a:t>
            </a:r>
            <a:br/>
            <a:r>
              <a:t>Important but disconnected</a:t>
            </a:r>
            <a:br/>
            <a:r>
              <a:t>from a 15-person business.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34747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  <a:latin typeface="Segoe UI"/>
              </a:defRPr>
            </a:pPr>
            <a:r>
              <a:t>The Haters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6576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04040"/>
                </a:solidFill>
                <a:latin typeface="Segoe UI"/>
              </a:defRPr>
            </a:pPr>
            <a:r>
              <a:t>"ESG is woke."</a:t>
            </a:r>
            <a:br/>
            <a:r>
              <a:t>Often industry-funded.</a:t>
            </a:r>
            <a:br/>
            <a:r>
              <a:t>But right that the system</a:t>
            </a:r>
            <a:br/>
            <a:r>
              <a:t>is performative.</a:t>
            </a:r>
            <a:br/>
            <a:r>
              <a:t>Wrong conclusion.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286000"/>
            <a:ext cx="34747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Corporate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6576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04040"/>
                </a:solidFill>
                <a:latin typeface="Segoe UI"/>
              </a:defRPr>
            </a:pPr>
            <a:r>
              <a:t>Sustainability = reporting</a:t>
            </a:r>
            <a:br/>
            <a:r>
              <a:t>+ compliance + brand.</a:t>
            </a:r>
            <a:br/>
            <a:r>
              <a:t>A department, not a practice.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286000"/>
            <a:ext cx="34747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1717"/>
                </a:solidFill>
                <a:latin typeface="Segoe UI"/>
              </a:defRPr>
            </a:pPr>
            <a:r>
              <a:t>The Alphabet Soup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6576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04040"/>
                </a:solidFill>
                <a:latin typeface="Segoe UI"/>
              </a:defRPr>
            </a:pPr>
            <a:r>
              <a:t>ESG, CSR, CSRD, CDP,</a:t>
            </a:r>
            <a:br/>
            <a:r>
              <a:t>GRI, SASB, TCFD, SFDR, VSME.</a:t>
            </a:r>
            <a:br/>
            <a:r>
              <a:t>Every layer needs software</a:t>
            </a:r>
            <a:br/>
            <a:r>
              <a:t>and consultants.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None of these lenses were designed for the person who actually has to do the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71717"/>
                </a:solidFill>
                <a:latin typeface="Segoe UI"/>
              </a:defRPr>
            </a:pPr>
            <a:r>
              <a:t>The alphabet soup — in plain language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65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7C5C"/>
                </a:solidFill>
                <a:latin typeface="Segoe UI"/>
              </a:defRPr>
            </a:pPr>
            <a:r>
              <a:t>Scope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965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1717"/>
                </a:solidFill>
                <a:latin typeface="Segoe UI"/>
              </a:defRPr>
            </a:pPr>
            <a:r>
              <a:t>What comes out of your building and vehicles.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37373"/>
                </a:solidFill>
                <a:latin typeface="Segoe UI"/>
              </a:defRPr>
            </a:pPr>
            <a:r>
              <a:t>Direct emissions. Your gas boiler, your delivery van.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2801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86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Scope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1717"/>
                </a:solidFill>
                <a:latin typeface="Segoe UI"/>
              </a:defRPr>
            </a:pPr>
            <a:r>
              <a:t>Your electricity.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52627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37373"/>
                </a:solidFill>
                <a:latin typeface="Segoe UI"/>
              </a:defRPr>
            </a:pPr>
            <a:r>
              <a:t>Indirect. Whatever the grid used to generate your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669279"/>
            <a:ext cx="12801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806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Scope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806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1717"/>
                </a:solidFill>
                <a:latin typeface="Segoe UI"/>
              </a:defRPr>
            </a:pPr>
            <a:r>
              <a:t>Everything else.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44651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37373"/>
                </a:solidFill>
                <a:latin typeface="Segoe UI"/>
              </a:defRPr>
            </a:pPr>
            <a:r>
              <a:t>Your supply chain. Your customers' use of your product.</a:t>
            </a:r>
            <a:br/>
            <a:r>
              <a:t>This is where it gets absurd for small businesses.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49807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37373"/>
                </a:solidFill>
                <a:latin typeface="Segoe UI"/>
              </a:defRPr>
            </a:pPr>
            <a:r>
              <a:t>Most frameworks are just different ways of asking you the same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A3A3A3"/>
                </a:solidFill>
                <a:latin typeface="Segoe UI"/>
              </a:defRPr>
            </a:pPr>
            <a:r>
              <a:t>For 300 years, sustainability meant: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"Manage your resources so</a:t>
            </a:r>
            <a:br/>
            <a:r>
              <a:t>your business survives."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4572000"/>
            <a:ext cx="2743200" cy="4572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  <a:latin typeface="Segoe UI"/>
              </a:defRPr>
            </a:pPr>
            <a:r>
              <a:t>Somewhere along the way, it became</a:t>
            </a:r>
            <a:br/>
            <a:r>
              <a:t>a compliance industry worth tens of billions.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858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7C5C"/>
                </a:solidFill>
                <a:latin typeface="Segoe UI"/>
              </a:defRPr>
            </a:pPr>
            <a:r>
              <a:t>Next: Who does that industry actually serve?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7589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37373"/>
                </a:solidFill>
                <a:latin typeface="Segoe UI"/>
              </a:defRPr>
            </a:pPr>
            <a:r>
              <a:t>Subscribe  |  THE 5 STACKS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