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A0A0A0"/>
                </a:solidFill>
                <a:latin typeface="Segoe UI"/>
              </a:defRPr>
            </a:pPr>
            <a:r>
              <a:t>A BIT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Segoe UI"/>
              </a:defRPr>
            </a:pPr>
            <a:r>
              <a:t>GAME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Why rational people make choices that hurt 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Including themselves.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7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07070"/>
                </a:solidFill>
                <a:latin typeface="Segoe UI"/>
              </a:defRPr>
            </a:pPr>
            <a:r>
              <a:t>THE 5 STACKS  |  Video 3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WHAT IS GAME THEORY?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 study of how people make decisions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when the outcome depends on what other people do.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Not abstract math.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 logic behind every negotiation, every market, every power dynamic.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THREE CONCEPTS THAT EXPLAIN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SUSTAINABILITY RIGHT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572000"/>
            <a:ext cx="3200400" cy="2286000"/>
          </a:xfrm>
          <a:prstGeom prst="roundRect">
            <a:avLst/>
          </a:prstGeom>
          <a:noFill/>
          <a:ln w="25400">
            <a:solidFill>
              <a:srgbClr val="4A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4A729A"/>
                </a:solidFill>
                <a:latin typeface="Segoe UI"/>
              </a:defRPr>
            </a:pPr>
            <a:r>
              <a:t>The Prisoner's</a:t>
            </a:r>
            <a:br/>
            <a:r>
              <a:t>Dilemma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4572000"/>
            <a:ext cx="3200400" cy="2286000"/>
          </a:xfrm>
          <a:prstGeom prst="roundRect">
            <a:avLst/>
          </a:prstGeom>
          <a:noFill/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DC2626"/>
                </a:solidFill>
                <a:latin typeface="Segoe UI"/>
              </a:defRPr>
            </a:pPr>
            <a:r>
              <a:t>Moral</a:t>
            </a:r>
            <a:br/>
            <a:r>
              <a:t>Hazard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4572000"/>
            <a:ext cx="3200400" cy="2286000"/>
          </a:xfrm>
          <a:prstGeom prst="roundRect">
            <a:avLst/>
          </a:prstGeom>
          <a:noFill/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7C5C"/>
                </a:solidFill>
                <a:latin typeface="Segoe UI"/>
              </a:defRPr>
            </a:pPr>
            <a:r>
              <a:t>Time-Horizon</a:t>
            </a:r>
            <a:br/>
            <a:r>
              <a:t>Games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4A729A"/>
                </a:solidFill>
                <a:latin typeface="Segoe UI"/>
              </a:defRPr>
            </a:pPr>
            <a:r>
              <a:t>THE PRISONER'S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Two players.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If both cooperate, both win.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If one defects, the defector wins big. The cooperator loses.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If both defect, both lose.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 rational individual move? Defect.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 best collective outcome? Cooperate.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707070"/>
                </a:solidFill>
                <a:latin typeface="Segoe UI"/>
              </a:defRPr>
            </a:pPr>
            <a:r>
              <a:t>This is the core tension of every supply 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4A729A"/>
                </a:solidFill>
                <a:latin typeface="Segoe UI"/>
              </a:defRPr>
            </a:pPr>
            <a:r>
              <a:t>APPLIED TO SUPPLY CHAIN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If all suppliers invest in sustainability: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the supply chain improves. Costs go down. Everyone benefits.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But any single supplier that doesn't invest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saves money and undercuts the ones who do.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Result: the rational move for each supplier is to do the minimum.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DC2626"/>
                </a:solidFill>
                <a:latin typeface="Segoe UI"/>
              </a:defRPr>
            </a:pPr>
            <a:r>
              <a:t>Race to the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THE BIG COMPANY'S "SOLUTION"?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2626"/>
                </a:solidFill>
                <a:latin typeface="Segoe UI"/>
              </a:defRPr>
            </a:pPr>
            <a:r>
              <a:t>SEND A QUESTIONNAIRE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Force compliance instead of creating conditions where cooperation pays.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D97706"/>
                </a:solidFill>
                <a:latin typeface="Segoe UI"/>
              </a:defRPr>
            </a:pPr>
            <a:r>
              <a:t>But forced compliance isn't cooperation. It's coercion.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7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707070"/>
                </a:solidFill>
                <a:latin typeface="Segoe UI"/>
              </a:defRPr>
            </a:pPr>
            <a:r>
              <a:t>The dilemma isn't solved. It's just pushed downhill.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DC2626"/>
                </a:solidFill>
                <a:latin typeface="Segoe UI"/>
              </a:defRPr>
            </a:pPr>
            <a:r>
              <a:t>MORAL HAZARD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When one party takes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because someone else bears the consequences.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DC2626"/>
                </a:solidFill>
                <a:latin typeface="Segoe UI"/>
              </a:defRPr>
            </a:pPr>
            <a:r>
              <a:t>WHO BEARS THE RISK?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320040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227C5C"/>
                </a:solidFill>
                <a:latin typeface="Segoe UI"/>
              </a:defRPr>
            </a:pPr>
            <a:r>
              <a:t>BIG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Takes the credit.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"We assessed 2,000 suppliers."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Bears no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926080"/>
            <a:ext cx="137160" cy="320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DC2626"/>
                </a:solidFill>
                <a:latin typeface="Segoe UI"/>
              </a:defRPr>
            </a:pPr>
            <a:r>
              <a:t>SUPPLIER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Does the work. For free.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Bears the cost.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Bears the risk of losing the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D97706"/>
                </a:solidFill>
                <a:latin typeface="Segoe UI"/>
              </a:defRPr>
            </a:pPr>
            <a:r>
              <a:t>The people designing the system don't suffer when it fails.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DC2626"/>
                </a:solidFill>
                <a:latin typeface="Segoe UI"/>
              </a:defRPr>
            </a:pPr>
            <a:r>
              <a:t>THE RATING AGENCY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3200400" cy="1828800"/>
          </a:xfrm>
          <a:prstGeom prst="roundRect">
            <a:avLst/>
          </a:prstGeom>
          <a:noFill/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97706"/>
                </a:solidFill>
                <a:latin typeface="Segoe UI"/>
              </a:defRPr>
            </a:pPr>
            <a:r>
              <a:t>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0A0A0"/>
                </a:solidFill>
                <a:latin typeface="Segoe UI"/>
              </a:defRPr>
            </a:pPr>
            <a:r>
              <a:t>Pays to rate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2286000"/>
            <a:ext cx="3200400" cy="2743200"/>
          </a:xfrm>
          <a:prstGeom prst="roundRect">
            <a:avLst/>
          </a:prstGeom>
          <a:noFill/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C2626"/>
                </a:solidFill>
                <a:latin typeface="Segoe UI"/>
              </a:defRPr>
            </a:pPr>
            <a:r>
              <a:t>RATING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383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DC2626"/>
                </a:solidFill>
                <a:latin typeface="Segoe UI"/>
              </a:defRPr>
            </a:pPr>
            <a:r>
              <a:t>Bears zero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931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DC2626"/>
                </a:solidFill>
                <a:latin typeface="Segoe UI"/>
              </a:defRPr>
            </a:pPr>
            <a:r>
              <a:t>Gets paid either 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743200"/>
            <a:ext cx="3200400" cy="1828800"/>
          </a:xfrm>
          <a:prstGeom prst="roundRect">
            <a:avLst/>
          </a:prstGeom>
          <a:noFill/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97706"/>
                </a:solidFill>
                <a:latin typeface="Segoe UI"/>
              </a:defRPr>
            </a:pPr>
            <a:r>
              <a:t>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0A0A0"/>
                </a:solidFill>
                <a:latin typeface="Segoe UI"/>
              </a:defRPr>
            </a:pPr>
            <a:r>
              <a:t>Pay to see your score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80" y="3383280"/>
            <a:ext cx="731520" cy="4572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 Arrow 13"/>
          <p:cNvSpPr/>
          <p:nvPr/>
        </p:nvSpPr>
        <p:spPr>
          <a:xfrm>
            <a:off x="9144000" y="3383280"/>
            <a:ext cx="731520" cy="457200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It doesn't matter if the rating improves sustainability.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Segoe UI"/>
              </a:defRPr>
            </a:pPr>
            <a:r>
              <a:t>That's moral hazard.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GREAT REPORT 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DC2626"/>
                </a:solidFill>
                <a:latin typeface="Segoe UI"/>
              </a:defRPr>
            </a:pPr>
            <a:r>
              <a:t>TERRIBLE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707070"/>
                </a:solidFill>
                <a:latin typeface="Segoe UI"/>
              </a:defRPr>
            </a:pPr>
            <a:r>
              <a:t>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227C5C"/>
                </a:solidFill>
                <a:latin typeface="Segoe UI"/>
              </a:defRPr>
            </a:pPr>
            <a:r>
              <a:t>GREAT OPERATIONS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NO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227C5C"/>
                </a:solidFill>
                <a:latin typeface="Segoe UI"/>
              </a:defRPr>
            </a:pPr>
            <a:r>
              <a:t>TIME-HORIZON GAMES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Are you playing one round?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Or a repeated game?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37160" cy="5943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DC2626"/>
                </a:solidFill>
                <a:latin typeface="Segoe UI"/>
              </a:defRPr>
            </a:pPr>
            <a:r>
              <a:t>SINGLE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Cut corners.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Externalise costs.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Squeeze suppliers.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Extract value fast.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Rational in a one-shot game.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914400"/>
            <a:ext cx="137160" cy="594360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27C5C"/>
                </a:solidFill>
                <a:latin typeface="Segoe UI"/>
              </a:defRPr>
            </a:pPr>
            <a:r>
              <a:t>REPEATED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Know your costs.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Manage your waste.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Diversify supply chain.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Build resilience.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Wins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707070"/>
                </a:solidFill>
                <a:latin typeface="Segoe UI"/>
              </a:defRPr>
            </a:pPr>
            <a:r>
              <a:t>The anti-ESG crowd is playing single rounds. Game theory says they lose.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SUSTAINABILITY ISN'T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OPPOSITE OF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227C5C"/>
                </a:solidFill>
                <a:latin typeface="Segoe UI"/>
              </a:defRPr>
            </a:pPr>
            <a:r>
              <a:t>It's the repeated game strategy.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D97706"/>
                </a:solidFill>
                <a:latin typeface="Segoe UI"/>
              </a:defRPr>
            </a:pPr>
            <a:r>
              <a:t>TIT FOR 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The most successful strategy in repeated prisoner's dilemma games.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Start by cooperating.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Then mirror what the other player does.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669280"/>
            <a:ext cx="5486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6217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Your big customer demands sustainability from you.</a:t>
            </a:r>
          </a:p>
          <a:p>
            <a:pPr algn="ctr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Do they reciprocate? Tools? Training? Shared cost?</a:t>
            </a:r>
          </a:p>
          <a:p>
            <a:pPr algn="ctr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Or just demand and punish?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IF IT'S ALL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AND NO RECIPROCITY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A0A0A0"/>
                </a:solidFill>
                <a:latin typeface="Segoe UI"/>
              </a:defRPr>
            </a:pPr>
            <a:r>
              <a:t>That's not a partnership.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DC2626"/>
                </a:solidFill>
                <a:latin typeface="Segoe UI"/>
              </a:defRPr>
            </a:pPr>
            <a:r>
              <a:t>That's extraction.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REAL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SUSTAINABILITY WOULD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Shared data. Shared tools. Shared benefit.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Almost nobody does this.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THE GAME THEORY IS 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600">
                <a:solidFill>
                  <a:srgbClr val="A0A0A0"/>
                </a:solidFill>
                <a:latin typeface="Segoe UI"/>
              </a:defRPr>
            </a:pPr>
            <a:r>
              <a:t>The incentives reward documentation over improvement.</a:t>
            </a:r>
          </a:p>
          <a:p>
            <a:pPr algn="ctr">
              <a:spcAft>
                <a:spcPts val="1600"/>
              </a:spcAft>
              <a:defRPr sz="2600">
                <a:solidFill>
                  <a:srgbClr val="A0A0A0"/>
                </a:solidFill>
                <a:latin typeface="Segoe UI"/>
              </a:defRPr>
            </a:pPr>
            <a:r>
              <a:t>Extraction over cooperation.</a:t>
            </a:r>
          </a:p>
          <a:p>
            <a:pPr algn="ctr">
              <a:spcAft>
                <a:spcPts val="1600"/>
              </a:spcAft>
              <a:defRPr sz="2600">
                <a:solidFill>
                  <a:srgbClr val="A0A0A0"/>
                </a:solidFill>
                <a:latin typeface="Segoe UI"/>
              </a:defRPr>
            </a:pPr>
            <a:r>
              <a:t>Short-term over long-term.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5943600"/>
            <a:ext cx="5486400" cy="4572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227C5C"/>
                </a:solidFill>
                <a:latin typeface="Segoe UI"/>
              </a:defRPr>
            </a:pPr>
            <a:r>
              <a:t>But understanding the game means you can choose how to play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NEXT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What sustainability actually looks like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when you stop playing their game.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