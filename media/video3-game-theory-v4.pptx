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 i="0">
                <a:solidFill>
                  <a:srgbClr val="FFFFFF"/>
                </a:solidFill>
                <a:latin typeface="Segoe UI"/>
              </a:defRPr>
            </a:pPr>
            <a:r>
              <a:t>"SUSTAINABILITY"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 i="0">
                <a:solidFill>
                  <a:srgbClr val="FFFFFF"/>
                </a:solidFill>
                <a:latin typeface="Segoe UI"/>
              </a:defRPr>
            </a:pPr>
            <a:r>
              <a:t>ISN'T SUSTAINABLE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A0A0A0"/>
                </a:solidFill>
                <a:latin typeface="Segoe UI"/>
              </a:defRPr>
            </a:pPr>
            <a:r>
              <a:t>And small businesses will take the blame.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498079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707070"/>
                </a:solidFill>
                <a:latin typeface="Segoe UI"/>
              </a:defRPr>
            </a:pPr>
            <a:r>
              <a:t>THE 5 STACKS  |  Video 3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THERE'S SOMETHING CALLED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Segoe UI"/>
              </a:defRPr>
            </a:pPr>
            <a:r>
              <a:t>GAME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How people make decisions when the outcome</a:t>
            </a:r>
          </a:p>
          <a:p>
            <a:pPr algn="ctr">
              <a:spcAft>
                <a:spcPts val="12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depends on what other people do.</a:t>
            </a:r>
          </a:p>
          <a:p>
            <a:pPr algn="ctr">
              <a:spcAft>
                <a:spcPts val="1200"/>
              </a:spcAft>
              <a:defRPr sz="2400">
                <a:solidFill>
                  <a:srgbClr val="A0A0A0"/>
                </a:solidFill>
                <a:latin typeface="Segoe UI"/>
              </a:defRPr>
            </a:pPr>
          </a:p>
          <a:p>
            <a:pPr algn="ctr">
              <a:spcAft>
                <a:spcPts val="12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You already do this every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When you price a job,</a:t>
            </a: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you think about what your competitor will charge.</a:t>
            </a: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When you invest in new equipment,</a:t>
            </a: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you think about whether your customer will stick around.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A0A0A0"/>
                </a:solidFill>
                <a:latin typeface="Segoe UI"/>
              </a:defRPr>
            </a:pPr>
            <a:r>
              <a:t>That's game theory.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DOING THE RIGHT THING ALONE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COSTS YOU MORE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100 suppliers. One big customer.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If they all invest in better operations,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the whole supply chain improves.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Costs go down. Everyone wins.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But if you invest and your competitor doesn't?</a:t>
            </a: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They spent nothing.</a:t>
            </a: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They undercut you on price.</a:t>
            </a: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You lose the contract.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SO EVERYONE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THE BARE MINIMUM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The big company sees this and thinks:</a:t>
            </a: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"If they won't do it voluntarily,</a:t>
            </a: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we'll make them."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A0A0A0"/>
                </a:solidFill>
                <a:latin typeface="Segoe UI"/>
              </a:defRPr>
            </a:pPr>
            <a:r>
              <a:t>So they send a questionnaire.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A0A0A0"/>
                </a:solidFill>
                <a:latin typeface="Segoe UI"/>
              </a:defRPr>
            </a:pPr>
            <a:r>
              <a:t>Fill this out or we drop you.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Forcing someone to fill out a form</a:t>
            </a: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isn't the same as making it worthwhile</a:t>
            </a: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to actually improve.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A0A0A0"/>
                </a:solidFill>
                <a:latin typeface="Segoe UI"/>
              </a:defRPr>
            </a:pPr>
            <a:r>
              <a:t>The problem isn't solved. It's papered over.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WHO TAKES THE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WHO GETS THE REWARD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Your big customer has a regulation to deal with.</a:t>
            </a:r>
          </a:p>
          <a:p>
            <a:pPr algn="l">
              <a:spcAft>
                <a:spcPts val="8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They need to report on their supply chain.</a:t>
            </a:r>
          </a:p>
          <a:p>
            <a:pPr algn="l">
              <a:spcAft>
                <a:spcPts val="800"/>
              </a:spcAft>
              <a:defRPr sz="2200">
                <a:solidFill>
                  <a:srgbClr val="A0A0A0"/>
                </a:solidFill>
                <a:latin typeface="Segoe UI"/>
              </a:defRPr>
            </a:pPr>
          </a:p>
          <a:p>
            <a:pPr algn="l">
              <a:spcAft>
                <a:spcPts val="8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Cheapest way? Push the work to you.</a:t>
            </a:r>
          </a:p>
          <a:p>
            <a:pPr algn="l">
              <a:spcAft>
                <a:spcPts val="8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You do it. For free.</a:t>
            </a:r>
          </a:p>
          <a:p>
            <a:pPr algn="l">
              <a:spcAft>
                <a:spcPts val="800"/>
              </a:spcAft>
              <a:defRPr sz="2200">
                <a:solidFill>
                  <a:srgbClr val="A0A0A0"/>
                </a:solidFill>
                <a:latin typeface="Segoe UI"/>
              </a:defRPr>
            </a:pPr>
          </a:p>
          <a:p>
            <a:pPr algn="l">
              <a:spcAft>
                <a:spcPts val="8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They write in their annual report:</a:t>
            </a:r>
          </a:p>
          <a:p>
            <a:pPr algn="l">
              <a:spcAft>
                <a:spcPts val="8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"We assessed 2,000 suppliers."</a:t>
            </a:r>
          </a:p>
          <a:p>
            <a:pPr algn="l">
              <a:spcAft>
                <a:spcPts val="800"/>
              </a:spcAft>
              <a:defRPr sz="2200">
                <a:solidFill>
                  <a:srgbClr val="A0A0A0"/>
                </a:solidFill>
                <a:latin typeface="Segoe UI"/>
              </a:defRPr>
            </a:pPr>
          </a:p>
          <a:p>
            <a:pPr algn="l">
              <a:spcAft>
                <a:spcPts val="8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Worth millions in reputation.</a:t>
            </a:r>
          </a:p>
          <a:p>
            <a:pPr algn="l">
              <a:spcAft>
                <a:spcPts val="800"/>
              </a:spcAft>
              <a:defRPr sz="2200">
                <a:solidFill>
                  <a:srgbClr val="A0A0A0"/>
                </a:solidFill>
                <a:latin typeface="Segoe UI"/>
              </a:defRPr>
            </a:pPr>
            <a:r>
              <a:t>Cost them almost nothing.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You get:</a:t>
            </a: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No help. No tools. No benefit.</a:t>
            </a: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A deadline.</a:t>
            </a: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And the risk that if you don't do it well enough,</a:t>
            </a: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you lose the contract.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>
                <a:solidFill>
                  <a:srgbClr val="FFFFFF"/>
                </a:solidFill>
                <a:latin typeface="Segoe UI"/>
              </a:defRPr>
            </a:pPr>
            <a:r>
              <a:t>Your customer pays a rating agency to rate you.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FFFFFF"/>
                </a:solidFill>
                <a:latin typeface="Segoe UI"/>
              </a:defRPr>
            </a:pPr>
            <a:r>
              <a:t>You pay the same agency to see your own score.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1000"/>
              </a:spcAft>
              <a:defRPr sz="2400">
                <a:solidFill>
                  <a:srgbClr val="FFFFFF"/>
                </a:solidFill>
                <a:latin typeface="Segoe UI"/>
              </a:defRPr>
            </a:pPr>
            <a:r>
              <a:t>Both sides pay.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FFFFFF"/>
                </a:solidFill>
                <a:latin typeface="Segoe UI"/>
              </a:defRPr>
            </a:pPr>
            <a:r>
              <a:t>The agency bears no risk.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FFFFFF"/>
                </a:solidFill>
                <a:latin typeface="Segoe UI"/>
              </a:defRPr>
            </a:pPr>
            <a:r>
              <a:t>It doesn't matter if the rating</a:t>
            </a:r>
          </a:p>
          <a:p>
            <a:pPr algn="ctr">
              <a:spcAft>
                <a:spcPts val="1000"/>
              </a:spcAft>
              <a:defRPr sz="2400">
                <a:solidFill>
                  <a:srgbClr val="FFFFFF"/>
                </a:solidFill>
                <a:latin typeface="Segoe UI"/>
              </a:defRPr>
            </a:pPr>
            <a:r>
              <a:t>makes anything more sustainable.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1000"/>
              </a:spcAft>
              <a:defRPr sz="2400">
                <a:solidFill>
                  <a:srgbClr val="FFFFFF"/>
                </a:solidFill>
                <a:latin typeface="Segoe UI"/>
              </a:defRPr>
            </a:pPr>
            <a:r>
              <a:t>They get paid either way.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A company with a polished sustainability report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and terrible actual operations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scores higher than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a company with great operations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and no report.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ARE YOU BUILDING A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OR FLIPPING ONE?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>
                <a:solidFill>
                  <a:srgbClr val="FFFFFF"/>
                </a:solidFill>
                <a:latin typeface="Segoe UI"/>
              </a:defRPr>
            </a:pPr>
            <a:r>
              <a:t>Quarter to quarter:</a:t>
            </a:r>
          </a:p>
          <a:p>
            <a:pPr algn="ctr">
              <a:spcAft>
                <a:spcPts val="1000"/>
              </a:spcAft>
              <a:defRPr sz="2400">
                <a:solidFill>
                  <a:srgbClr val="FFFFFF"/>
                </a:solidFill>
                <a:latin typeface="Segoe UI"/>
              </a:defRPr>
            </a:pPr>
            <a:r>
              <a:t>Cut corners. Push costs onto someone else.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FFFFFF"/>
                </a:solidFill>
                <a:latin typeface="Segoe UI"/>
              </a:defRPr>
            </a:pPr>
            <a:r>
              <a:t>Squeeze your suppliers. Looks great on paper.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1000"/>
              </a:spcAft>
              <a:defRPr sz="2400">
                <a:solidFill>
                  <a:srgbClr val="FFFFFF"/>
                </a:solidFill>
                <a:latin typeface="Segoe UI"/>
              </a:defRPr>
            </a:pPr>
            <a:r>
              <a:t>Decade to decade:</a:t>
            </a:r>
          </a:p>
          <a:p>
            <a:pPr algn="ctr">
              <a:spcAft>
                <a:spcPts val="1000"/>
              </a:spcAft>
              <a:defRPr sz="2400">
                <a:solidFill>
                  <a:srgbClr val="FFFFFF"/>
                </a:solidFill>
                <a:latin typeface="Segoe UI"/>
              </a:defRPr>
            </a:pPr>
            <a:r>
              <a:t>Know your costs. Manage your waste.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FFFFFF"/>
                </a:solidFill>
                <a:latin typeface="Segoe UI"/>
              </a:defRPr>
            </a:pPr>
            <a:r>
              <a:t>Diversify your supply chain. Build something resilient.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1000"/>
              </a:spcAft>
              <a:defRPr sz="2400">
                <a:solidFill>
                  <a:srgbClr val="FFFFFF"/>
                </a:solidFill>
                <a:latin typeface="Segoe UI"/>
              </a:defRPr>
            </a:pPr>
            <a:r>
              <a:t>Svenja is building something her kids could take over.</a:t>
            </a:r>
          </a:p>
          <a:p>
            <a:pPr algn="ctr">
              <a:spcAft>
                <a:spcPts val="1000"/>
              </a:spcAft>
              <a:defRPr sz="2400">
                <a:solidFill>
                  <a:srgbClr val="FFFFFF"/>
                </a:solidFill>
                <a:latin typeface="Segoe UI"/>
              </a:defRPr>
            </a:pPr>
            <a:r>
              <a:t>Those are different games.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SUSTAINABILITY ISN'T THE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OPPOSITE OF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A0A0A0"/>
                </a:solidFill>
                <a:latin typeface="Segoe UI"/>
              </a:defRPr>
            </a:pPr>
            <a:r>
              <a:t>It's what happens when you play the longer game.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Your customer demands sustainability data from you.</a:t>
            </a: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Do they give anything back?</a:t>
            </a: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Tools? Training? Shared costs?</a:t>
            </a: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14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Or do they just demand and punish?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IF IT'S ALL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AND NO GIVING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A0A0A0"/>
                </a:solidFill>
                <a:latin typeface="Segoe UI"/>
              </a:defRPr>
            </a:pPr>
            <a:r>
              <a:t>That's not a partnership. That's extraction.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Right now the game rewards: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Paperwork over improvement.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Extraction over cooperation.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Short-term over long-term.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  <a:latin typeface="Segoe UI"/>
              </a:defRPr>
            </a:pP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Not because people are bad.</a:t>
            </a:r>
          </a:p>
          <a:p>
            <a:pPr algn="ctr">
              <a:spcAft>
                <a:spcPts val="1200"/>
              </a:spcAft>
              <a:defRPr sz="2800">
                <a:solidFill>
                  <a:srgbClr val="FFFFFF"/>
                </a:solidFill>
                <a:latin typeface="Segoe UI"/>
              </a:defRPr>
            </a:pPr>
            <a:r>
              <a:t>Because the game is badly designed.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ONCE YOU SEE THE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YOU CAN CHOOSE HOW TO PLAY 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NEXT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029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What sustainability actually looks like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when you stop playing their game</a:t>
            </a:r>
          </a:p>
          <a:p>
            <a:pPr algn="ctr">
              <a:spcAft>
                <a:spcPts val="1000"/>
              </a:spcAft>
              <a:defRPr sz="2400">
                <a:solidFill>
                  <a:srgbClr val="A0A0A0"/>
                </a:solidFill>
                <a:latin typeface="Segoe UI"/>
              </a:defRPr>
            </a:pPr>
            <a:r>
              <a:t>and start playing your 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