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1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Segoe UI"/>
              </a:defRPr>
            </a:pPr>
            <a:r>
              <a:t>SUSTAINABILITY ISN'T IDEOLOGY. IT'S PHYSICS.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  <a:latin typeface="Segoe UI"/>
              </a:defRPr>
            </a:pPr>
            <a:r>
              <a:t>No opinions. No politics. Just how systems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858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37373"/>
                </a:solidFill>
                <a:latin typeface="Segoe UI"/>
              </a:defRPr>
            </a:pPr>
            <a:r>
              <a:t>THE 5 STACKS  |  Video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Earth is a closed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Energy comes in from the sun. That's it. Matter doesn't leave.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270000" y="3860800"/>
            <a:ext cx="2252133" cy="1444413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95213" y="4355035"/>
            <a:ext cx="18017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sz="2200" dirty="0">
                <a:solidFill>
                  <a:srgbClr val="404040"/>
                </a:solidFill>
                <a:latin typeface="Segoe UI"/>
              </a:rPr>
              <a:t>Energy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374" y="3631759"/>
            <a:ext cx="41148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sz="3200" dirty="0"/>
              <a:t>No exit.</a:t>
            </a:r>
          </a:p>
          <a:p>
            <a:pPr algn="l">
              <a:spcAft>
                <a:spcPts val="12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sz="3200" dirty="0"/>
              <a:t>No reset button.</a:t>
            </a:r>
          </a:p>
          <a:p>
            <a:pPr algn="l">
              <a:spcAft>
                <a:spcPts val="12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sz="3200" dirty="0"/>
              <a:t>Outputs accumulate.</a:t>
            </a:r>
          </a:p>
        </p:txBody>
      </p:sp>
      <p:pic>
        <p:nvPicPr>
          <p:cNvPr id="1026" name="Picture 2" descr="Earth transparent Images - Free Download on Freepik">
            <a:extLst>
              <a:ext uri="{FF2B5EF4-FFF2-40B4-BE49-F238E27FC236}">
                <a16:creationId xmlns:a16="http://schemas.microsoft.com/office/drawing/2014/main" id="{96D4818E-34A5-4864-8431-AADB48ABB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467" y="1678548"/>
            <a:ext cx="6374774" cy="552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425409" y="6565346"/>
            <a:ext cx="3200400" cy="1323439"/>
          </a:xfrm>
          <a:prstGeom prst="rect">
            <a:avLst/>
          </a:prstGeom>
          <a:solidFill>
            <a:schemeClr val="accent4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Matter stays.</a:t>
            </a:r>
          </a:p>
          <a:p>
            <a:pPr algn="ctr"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Everything we extract,</a:t>
            </a:r>
          </a:p>
          <a:p>
            <a:pPr algn="ctr"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rearrange.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Stock vs.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5029200" cy="2286000"/>
          </a:xfrm>
          <a:prstGeom prst="roundRect">
            <a:avLst/>
          </a:prstGeom>
          <a:noFill/>
          <a:ln w="25400">
            <a:solidFill>
              <a:srgbClr val="A3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2468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3A3A3"/>
                </a:solidFill>
                <a:latin typeface="Segoe UI"/>
              </a:defRPr>
            </a:pPr>
            <a: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Emissions per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5029200" cy="2286000"/>
          </a:xfrm>
          <a:prstGeom prst="roundRect">
            <a:avLst/>
          </a:prstGeom>
          <a:noFill/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2468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C2626"/>
                </a:solidFill>
                <a:latin typeface="Segoe UI"/>
              </a:defRPr>
            </a:pPr>
            <a:r>
              <a:t>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004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Total CO₂ in atmosphere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40880" y="2926080"/>
            <a:ext cx="640080" cy="457200"/>
          </a:xfrm>
          <a:prstGeom prst="rightArrow">
            <a:avLst/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 isn't emissions alone. It's accumulation.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858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3A3A3"/>
                </a:solidFill>
                <a:latin typeface="Segoe UI"/>
              </a:defRPr>
            </a:pPr>
            <a:r>
              <a:t>Even if we slow the flow, the stock keeps rising until the flow drops below what the system absorbs.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800" y="2286000"/>
            <a:ext cx="5486400" cy="4114800"/>
          </a:xfrm>
          <a:prstGeom prst="rect">
            <a:avLst/>
          </a:prstGeom>
          <a:noFill/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60520" y="3657600"/>
            <a:ext cx="5394960" cy="2697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wn Arrow 5"/>
          <p:cNvSpPr/>
          <p:nvPr/>
        </p:nvSpPr>
        <p:spPr>
          <a:xfrm>
            <a:off x="5943600" y="914400"/>
            <a:ext cx="1371600" cy="1554480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0" y="1005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Segoe UI"/>
              </a:defRPr>
            </a:pPr>
            <a:r>
              <a:rPr dirty="0"/>
              <a:t>CO₂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005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37373"/>
                </a:solidFill>
                <a:latin typeface="Segoe UI"/>
              </a:defRPr>
            </a:pPr>
            <a:r>
              <a:t>Fossil fuels, industry,</a:t>
            </a:r>
            <a:br/>
            <a:r>
              <a:t>land use</a:t>
            </a:r>
          </a:p>
        </p:txBody>
      </p:sp>
      <p:sp>
        <p:nvSpPr>
          <p:cNvPr id="9" name="Down Arrow 8"/>
          <p:cNvSpPr/>
          <p:nvPr/>
        </p:nvSpPr>
        <p:spPr>
          <a:xfrm>
            <a:off x="6492240" y="6400800"/>
            <a:ext cx="548640" cy="731520"/>
          </a:xfrm>
          <a:prstGeom prst="downArrow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6858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7C5C"/>
                </a:solidFill>
                <a:latin typeface="Segoe UI"/>
              </a:defRPr>
            </a:pPr>
            <a:r>
              <a:t>CO₂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858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37373"/>
                </a:solidFill>
                <a:latin typeface="Segoe UI"/>
              </a:defRPr>
            </a:pPr>
            <a:r>
              <a:t>Oceans, forests,</a:t>
            </a:r>
            <a:br/>
            <a:r>
              <a:t>natural absorption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1717"/>
                </a:solidFill>
                <a:latin typeface="Segoe UI"/>
              </a:defRPr>
            </a:pPr>
            <a:r>
              <a:t>The tap is running</a:t>
            </a:r>
            <a:br/>
            <a:r>
              <a:t>faster than the</a:t>
            </a:r>
            <a:br/>
            <a:r>
              <a:t>drain can empty.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04040"/>
                </a:solidFill>
                <a:latin typeface="Segoe UI"/>
              </a:defRPr>
            </a:pPr>
            <a:r>
              <a:t>That's not ideology.</a:t>
            </a:r>
            <a:br/>
            <a:r>
              <a:t>That's a bathtub</a:t>
            </a:r>
            <a:br/>
            <a:r>
              <a:t>overflowing.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What is a feedback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404040"/>
                </a:solidFill>
                <a:latin typeface="Segoe UI"/>
              </a:defRPr>
            </a:pPr>
            <a:r>
              <a:t>When the output of a system becomes an input that changes the system itself.</a:t>
            </a:r>
          </a:p>
        </p:txBody>
      </p:sp>
      <p:sp>
        <p:nvSpPr>
          <p:cNvPr id="4" name="Oval 3"/>
          <p:cNvSpPr/>
          <p:nvPr/>
        </p:nvSpPr>
        <p:spPr>
          <a:xfrm>
            <a:off x="5029200" y="3200400"/>
            <a:ext cx="4572000" cy="3200400"/>
          </a:xfrm>
          <a:prstGeom prst="ellipse">
            <a:avLst/>
          </a:prstGeom>
          <a:noFill/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1717"/>
                </a:solidFill>
                <a:latin typeface="Segoe UI"/>
              </a:defRPr>
            </a:pPr>
            <a:r>
              <a:t>A changes B</a:t>
            </a:r>
            <a:br/>
            <a:r>
              <a:t>B changes A</a:t>
            </a:r>
            <a:br/>
            <a:r>
              <a:t>Repeat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1323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37373"/>
                </a:solidFill>
                <a:latin typeface="Segoe UI"/>
              </a:defRPr>
            </a:pPr>
            <a:r>
              <a:rPr dirty="0"/>
              <a:t>Two kinds: some stabilize. Some amplify.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27C5C"/>
                </a:solidFill>
                <a:latin typeface="Segoe UI"/>
              </a:defRPr>
            </a:pPr>
            <a:r>
              <a:t>Stabilizing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The system pushes back. It self-corrects.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3474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More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3474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More evaporation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0" y="3474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More clouds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486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5760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Reflects sunlight</a:t>
            </a:r>
            <a:br/>
            <a:r>
              <a:t>= cools down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54880" y="3566160"/>
            <a:ext cx="1005840" cy="457200"/>
          </a:xfrm>
          <a:prstGeom prst="rightArrow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869680" y="3566160"/>
            <a:ext cx="1005840" cy="457200"/>
          </a:xfrm>
          <a:prstGeom prst="rightArrow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10972800" y="4754880"/>
            <a:ext cx="457200" cy="731520"/>
          </a:xfrm>
          <a:prstGeom prst="downArrow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eft Arrow 14"/>
          <p:cNvSpPr/>
          <p:nvPr/>
        </p:nvSpPr>
        <p:spPr>
          <a:xfrm>
            <a:off x="4754880" y="5852160"/>
            <a:ext cx="1005840" cy="457200"/>
          </a:xfrm>
          <a:prstGeom prst="leftArrow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7C5C"/>
                </a:solidFill>
                <a:latin typeface="Segoe UI"/>
              </a:defRPr>
            </a:pPr>
            <a:r>
              <a:t>The system has a thermostat. It tries to stay balanced.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DC2626"/>
                </a:solidFill>
                <a:latin typeface="Segoe UI"/>
              </a:defRPr>
            </a:pPr>
            <a:r>
              <a:t>Amplifying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The system accelerates itself. No brakes.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3474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Less 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3474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Less sunlight</a:t>
            </a:r>
            <a:br/>
            <a:r>
              <a:t>reflected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0" y="3474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More heat</a:t>
            </a:r>
            <a:br/>
            <a:r>
              <a:t>absorbed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486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5760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More ice melts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54880" y="3566160"/>
            <a:ext cx="1005840" cy="4572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869680" y="3566160"/>
            <a:ext cx="1005840" cy="4572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10972800" y="4754880"/>
            <a:ext cx="457200" cy="731520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eft Arrow 14"/>
          <p:cNvSpPr/>
          <p:nvPr/>
        </p:nvSpPr>
        <p:spPr>
          <a:xfrm>
            <a:off x="4754880" y="5852160"/>
            <a:ext cx="1005840" cy="457200"/>
          </a:xfrm>
          <a:prstGeom prst="lef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C2626"/>
                </a:solidFill>
                <a:latin typeface="Segoe UI"/>
              </a:defRPr>
            </a:pPr>
            <a:r>
              <a:t>This isn't a prediction. This is measured, observed, documented.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Tipping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Systems don't degrade gradually. They hold — then shift.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657600"/>
            <a:ext cx="3200400" cy="36576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7C5C"/>
                </a:solidFill>
                <a:latin typeface="Segoe UI"/>
              </a:defRPr>
            </a:pPr>
            <a:r>
              <a:t>HOLDS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3657600"/>
            <a:ext cx="3200400" cy="36576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536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2743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7C5C"/>
                </a:solidFill>
                <a:latin typeface="Segoe UI"/>
              </a:defRPr>
            </a:pPr>
            <a:r>
              <a:t>HOLDS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9304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66960" y="3657600"/>
            <a:ext cx="137160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704320" y="3931920"/>
            <a:ext cx="146304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2743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  <a:latin typeface="Segoe UI"/>
              </a:defRPr>
            </a:pPr>
            <a:r>
              <a:t>BREAKS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dirty="0"/>
              <a:t>A rainforest can handle some clearing.</a:t>
            </a:r>
          </a:p>
          <a:p>
            <a:pPr algn="ctr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dirty="0"/>
              <a:t>Past a threshold, it becomes savanna.</a:t>
            </a:r>
          </a:p>
          <a:p>
            <a:pPr algn="ctr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rPr dirty="0"/>
              <a:t>That transition isn't reversible on human timescales.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These physical systems are driven</a:t>
            </a:r>
            <a:br/>
            <a:r>
              <a:t>by human activity.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0292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3A3A3"/>
                </a:solidFill>
                <a:latin typeface="Segoe UI"/>
              </a:defRPr>
            </a:pPr>
            <a:r>
              <a:t>But not equally.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  <a:latin typeface="Segoe UI"/>
              </a:defRPr>
            </a:pPr>
            <a:r>
              <a:t>71%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A3A3A3"/>
                </a:solidFill>
                <a:latin typeface="Segoe UI"/>
              </a:defRPr>
            </a:pPr>
            <a:r>
              <a:t>of global industrial greenhouse gas 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100 companies.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400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737373"/>
                </a:solidFill>
                <a:latin typeface="Segoe UI"/>
              </a:defRPr>
            </a:pPr>
            <a:r>
              <a:t>The chemicals in your water. The microplastics in your food.</a:t>
            </a:r>
          </a:p>
          <a:p>
            <a:pPr algn="ctr">
              <a:spcAft>
                <a:spcPts val="600"/>
              </a:spcAft>
              <a:defRPr sz="2000">
                <a:solidFill>
                  <a:srgbClr val="737373"/>
                </a:solidFill>
                <a:latin typeface="Segoe UI"/>
              </a:defRPr>
            </a:pPr>
            <a:r>
              <a:t>Industrial-scale decisions by a small number of very large companies.</a:t>
            </a:r>
          </a:p>
          <a:p>
            <a:pPr algn="ctr">
              <a:spcAft>
                <a:spcPts val="600"/>
              </a:spcAft>
              <a:defRPr sz="2000">
                <a:solidFill>
                  <a:srgbClr val="737373"/>
                </a:solidFill>
                <a:latin typeface="Segoe UI"/>
              </a:defRPr>
            </a:pPr>
            <a:r>
              <a:t>Not Jim's tire shop. Not Svenja's sewing company.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1717"/>
                </a:solidFill>
                <a:latin typeface="Segoe UI"/>
              </a:defRPr>
            </a:pPr>
            <a:r>
              <a:t>The physics is real.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04040"/>
                </a:solidFill>
                <a:latin typeface="Segoe UI"/>
              </a:defRPr>
            </a:pPr>
            <a:r>
              <a:t>The environment matters. That's not the debate.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3657600"/>
            <a:ext cx="2743200" cy="457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37373"/>
                </a:solidFill>
                <a:latin typeface="Segoe UI"/>
              </a:defRPr>
            </a:pPr>
            <a:r>
              <a:t>The debate 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71717"/>
                </a:solidFill>
                <a:latin typeface="Segoe UI"/>
              </a:defRPr>
            </a:pPr>
            <a:r>
              <a:t>Who's responsible?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71717"/>
                </a:solidFill>
                <a:latin typeface="Segoe UI"/>
              </a:defRPr>
            </a:pPr>
            <a:r>
              <a:t>Who's paying?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858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71717"/>
                </a:solidFill>
                <a:latin typeface="Segoe UI"/>
              </a:defRPr>
            </a:pPr>
            <a:r>
              <a:t>Does the system built to 'fix' it actually work?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Next: How did we get 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118872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3A3A3"/>
                </a:solidFill>
                <a:latin typeface="Segoe UI"/>
              </a:defRPr>
            </a:pPr>
            <a:r>
              <a:rPr dirty="0"/>
              <a:t>From </a:t>
            </a:r>
            <a:r>
              <a:rPr lang="de-DE" dirty="0"/>
              <a:t>"</a:t>
            </a:r>
            <a:r>
              <a:rPr dirty="0"/>
              <a:t>don't dump chemicals in the river</a:t>
            </a:r>
            <a:r>
              <a:rPr lang="de-DE" dirty="0"/>
              <a:t>"</a:t>
            </a:r>
            <a:br>
              <a:rPr dirty="0"/>
            </a:br>
            <a:r>
              <a:rPr dirty="0"/>
              <a:t>to a $30 billion compliance industry.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400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Subscribe  |  THE 5 STACKS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Custom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2026-03-08T14:01:49Z</dcterms:modified>
  <cp:category/>
</cp:coreProperties>
</file>